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6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5143500" cy="9144000"/>
  <p:embeddedFontLst>
    <p:embeddedFont>
      <p:font typeface="Montserrat Bold" panose="00000800000000000000" pitchFamily="2" charset="0"/>
      <p:regular r:id="rId25"/>
      <p:bold r:id="rId26"/>
    </p:embeddedFont>
    <p:embeddedFont>
      <p:font typeface="Montserrat Light" panose="00000400000000000000" pitchFamily="2" charset="0"/>
      <p:regular r:id="rId27"/>
      <p:italic r:id="rId28"/>
    </p:embeddedFont>
    <p:embeddedFont>
      <p:font typeface="Source Sans 3" panose="020B0604020202020204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36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EFF1-991F-B919-EB14-74ACBC50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70B68-8F87-F6B5-370B-73D7681D6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71C22-6CFB-F1A7-E75B-3CCD6B803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79018-C803-EB60-D6E9-BA1EACE02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4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A65C618-1536-5139-E16D-6E125CBF7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0327" y="96858"/>
            <a:ext cx="860714" cy="27665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00495717/TFG-HUGO-BECERRA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hugobecerra/DATASET3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314881"/>
            <a:ext cx="8810897" cy="175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Evaluación de modelos de PLN para la detección de amenazas en ciberseguridad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8783" y="2952021"/>
            <a:ext cx="8810897" cy="10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Trabajo Fin de Grado · Grado en Ingeniería Informática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Autor: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Hugo Becerra Fernández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Tutora: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Isabel Segura Bedmar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Universidad Carlos III de Madrid ·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80727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Índice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327547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9874" y="1570658"/>
            <a:ext cx="395495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39874" y="1685851"/>
            <a:ext cx="1961183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Motivación y objetivo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9093" y="1327547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49093" y="1570658"/>
            <a:ext cx="3955033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649093" y="1685851"/>
            <a:ext cx="244137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Tarea SemEval-2018 Task 8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9874" y="217490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874" y="2418011"/>
            <a:ext cx="395495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9874" y="253320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Estado del arte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9093" y="217490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9093" y="2418011"/>
            <a:ext cx="3955033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649093" y="2533204"/>
            <a:ext cx="260345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y preprocesamiento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9874" y="3022253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874" y="3265363"/>
            <a:ext cx="395495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39874" y="3380556"/>
            <a:ext cx="186079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Enfoques y modelos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9093" y="3022253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9093" y="3265363"/>
            <a:ext cx="3955033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649093" y="3380556"/>
            <a:ext cx="249130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Resultados experimentales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9874" y="3869606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874" y="4112716"/>
            <a:ext cx="395495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39874" y="422790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Análisis de errores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9093" y="3869606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49093" y="4112716"/>
            <a:ext cx="3955033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649093" y="4227909"/>
            <a:ext cx="269847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Conclusiones y trabajo futuro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68874" y="465162"/>
            <a:ext cx="4635252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¿Por qué automatizar el análisis de malware?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9824" y="1449437"/>
            <a:ext cx="4654302" cy="9918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84824" y="1608237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184824" y="1882750"/>
            <a:ext cx="426050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Las organizaciones gestionan cientos de informes APT, boletines CVE y documentos de inteligencia de amenazas (CTI) cada año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9824" y="2567955"/>
            <a:ext cx="4654302" cy="9918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84824" y="2726754"/>
            <a:ext cx="158866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revisión manual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184824" y="3001268"/>
            <a:ext cx="426050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Costosa, lenta y dependiente de analistas especializados — un perfil escaso y muy demandado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9824" y="3686473"/>
            <a:ext cx="4654302" cy="9918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84824" y="3845272"/>
            <a:ext cx="196869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oportunidad del PLN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184824" y="4119786"/>
            <a:ext cx="426050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PLN puede automatizar la fase inicial de filtrado, identificando automáticamente las frases técnicamente relevantes</a:t>
            </a:r>
            <a:endParaRPr lang="en-US" sz="1100" dirty="0"/>
          </a:p>
        </p:txBody>
      </p:sp>
      <p:pic>
        <p:nvPicPr>
          <p:cNvPr id="3074" name="Picture 2" descr="Qué es el análisis de malware y por qué es importante?">
            <a:extLst>
              <a:ext uri="{FF2B5EF4-FFF2-40B4-BE49-F238E27FC236}">
                <a16:creationId xmlns:a16="http://schemas.microsoft.com/office/drawing/2014/main" id="{128696BF-896E-89D0-96D7-0292E7F4E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74" y="1608237"/>
            <a:ext cx="2790976" cy="191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9938" y="450875"/>
            <a:ext cx="4116437" cy="30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 flujo de trabajo propuesto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52" y="911498"/>
            <a:ext cx="6191622" cy="3279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2652" y="3255350"/>
            <a:ext cx="1391619" cy="173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Entrada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224521" y="3483708"/>
            <a:ext cx="1639751" cy="26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Informe de malware en texto plano.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873905" y="1357900"/>
            <a:ext cx="1391619" cy="173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Paso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25774" y="1586258"/>
            <a:ext cx="1639750" cy="26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Segmentación automática en frases.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299903" y="1357900"/>
            <a:ext cx="1391620" cy="173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Paso 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99903" y="1586258"/>
            <a:ext cx="1639751" cy="26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Clasificador PLN: identificar frases de comportamiento.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78239" y="3255457"/>
            <a:ext cx="1391619" cy="173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Salida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78239" y="3483814"/>
            <a:ext cx="1639750" cy="26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Frases relevantes priorizadas para el analista.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90903" y="4303216"/>
            <a:ext cx="6800404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Objetivo:</a:t>
            </a:r>
            <a:r>
              <a:rPr lang="en-US" sz="2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Liberar al analista de la lectura exhaustiva, no sustituir su criterio experto.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7374" y="579361"/>
            <a:ext cx="6403479" cy="4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SemEval-2018 Task 8 — SecureNLP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370196" y="1454483"/>
            <a:ext cx="5982113" cy="616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Primera competición SemEval centrada exclusivamente </a:t>
            </a:r>
            <a:r>
              <a:rPr lang="en-US" sz="12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</a:t>
            </a: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ciberseguridad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70196" y="2206437"/>
            <a:ext cx="5982113" cy="2453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Corpus: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MalwareTextDB — 39 informes APT anotados manualmente con el esquema MAEC</a:t>
            </a:r>
            <a:endParaRPr lang="en-US" sz="11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SubTask 1: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Clasificación binaria de frases como </a:t>
            </a:r>
            <a:r>
              <a:rPr lang="en-US" sz="1100" i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Relevante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</a:t>
            </a:r>
            <a:r>
              <a:rPr lang="en-US" sz="1100" i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relevante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describir comportamiento de malware</a:t>
            </a:r>
            <a:endParaRPr lang="en-US" sz="11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oficial: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618 frases · 90 relevantes (14,6%) · 528 no relevantes (85,4%)</a:t>
            </a:r>
            <a:endParaRPr lang="en-US" sz="11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Métrica principal: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F1-score de la clase relevante</a:t>
            </a:r>
            <a:endParaRPr lang="en-US" sz="1100" dirty="0"/>
          </a:p>
        </p:txBody>
      </p:sp>
      <p:pic>
        <p:nvPicPr>
          <p:cNvPr id="4100" name="Picture 4" descr="SemEval (@SemEvalWorkshop) / Posts / X">
            <a:extLst>
              <a:ext uri="{FF2B5EF4-FFF2-40B4-BE49-F238E27FC236}">
                <a16:creationId xmlns:a16="http://schemas.microsoft.com/office/drawing/2014/main" id="{B4E66B28-D695-609D-523A-D78C6A96A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874" y="1679542"/>
            <a:ext cx="2137930" cy="213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2937" y="451470"/>
            <a:ext cx="417812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Ejemplos de la tarea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2784764" y="1057853"/>
            <a:ext cx="3421421" cy="282327"/>
          </a:xfrm>
          <a:prstGeom prst="roundRect">
            <a:avLst>
              <a:gd name="adj" fmla="val 655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s-ES">
              <a:solidFill>
                <a:schemeClr val="accent6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345135" y="1104063"/>
            <a:ext cx="4388174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chemeClr val="bg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RELEVANTE</a:t>
            </a:r>
            <a:endParaRPr lang="en-US" sz="950" b="1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04607" y="1855617"/>
            <a:ext cx="428105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malware connects to a command and control server to receive instructions."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5404415" y="1916497"/>
            <a:ext cx="421481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Describe una acción técnica concreta del malware.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4607" y="2914724"/>
            <a:ext cx="3889411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"Upon execution, the Trojan drops a DLL file in the Windows system directory."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5404415" y="2914724"/>
            <a:ext cx="421481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Acción, entidad y contexto técnico.</a:t>
            </a:r>
            <a:endParaRPr lang="en-US" sz="12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0BFAD77-42A9-5EDD-6EEE-A1C11A9E6F3C}"/>
              </a:ext>
            </a:extLst>
          </p:cNvPr>
          <p:cNvCxnSpPr>
            <a:cxnSpLocks/>
          </p:cNvCxnSpPr>
          <p:nvPr/>
        </p:nvCxnSpPr>
        <p:spPr>
          <a:xfrm flipV="1">
            <a:off x="4224031" y="2032173"/>
            <a:ext cx="6959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58445A3-07FA-A478-6A5E-858E69D4B1C3}"/>
              </a:ext>
            </a:extLst>
          </p:cNvPr>
          <p:cNvCxnSpPr>
            <a:cxnSpLocks/>
          </p:cNvCxnSpPr>
          <p:nvPr/>
        </p:nvCxnSpPr>
        <p:spPr>
          <a:xfrm flipV="1">
            <a:off x="4224031" y="3056527"/>
            <a:ext cx="6959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4B39-E247-D544-54E4-5DD37B4D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BC9C49-499F-88D7-C56F-09758D9E3747}"/>
              </a:ext>
            </a:extLst>
          </p:cNvPr>
          <p:cNvSpPr/>
          <p:nvPr/>
        </p:nvSpPr>
        <p:spPr>
          <a:xfrm>
            <a:off x="2482937" y="451470"/>
            <a:ext cx="417812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Ejemplos de la tarea</a:t>
            </a:r>
            <a:endParaRPr lang="en-US" sz="2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572E6F-DA42-2A3A-BA09-F20E365A9ADF}"/>
              </a:ext>
            </a:extLst>
          </p:cNvPr>
          <p:cNvSpPr/>
          <p:nvPr/>
        </p:nvSpPr>
        <p:spPr>
          <a:xfrm>
            <a:off x="244200" y="1953638"/>
            <a:ext cx="373205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"This report was prepared by the security research team."</a:t>
            </a:r>
            <a:endParaRPr lang="en-US" sz="12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280403E-B579-50B3-9553-36CF26B073C8}"/>
              </a:ext>
            </a:extLst>
          </p:cNvPr>
          <p:cNvSpPr/>
          <p:nvPr/>
        </p:nvSpPr>
        <p:spPr>
          <a:xfrm>
            <a:off x="5167745" y="1953638"/>
            <a:ext cx="430113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Texto administrativo sin comportamiento.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167F722-011A-3EFE-CA63-CD9BB3FB53E2}"/>
              </a:ext>
            </a:extLst>
          </p:cNvPr>
          <p:cNvSpPr/>
          <p:nvPr/>
        </p:nvSpPr>
        <p:spPr>
          <a:xfrm>
            <a:off x="244200" y="2987283"/>
            <a:ext cx="406977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"Figure 3 shows the infection chain."</a:t>
            </a:r>
            <a:endParaRPr lang="en-US" sz="12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6646CCC-6400-596C-9EB7-4F5A491AB478}"/>
              </a:ext>
            </a:extLst>
          </p:cNvPr>
          <p:cNvSpPr/>
          <p:nvPr/>
        </p:nvSpPr>
        <p:spPr>
          <a:xfrm>
            <a:off x="5167745" y="2987282"/>
            <a:ext cx="430113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Referencia a figura, no descripción de comportamiento.</a:t>
            </a:r>
            <a:endParaRPr lang="en-US" sz="12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439BAEF-41B8-D9FD-5D65-80E1A18D052B}"/>
              </a:ext>
            </a:extLst>
          </p:cNvPr>
          <p:cNvSpPr/>
          <p:nvPr/>
        </p:nvSpPr>
        <p:spPr>
          <a:xfrm>
            <a:off x="2784764" y="1057853"/>
            <a:ext cx="3421421" cy="282327"/>
          </a:xfrm>
          <a:prstGeom prst="roundRect">
            <a:avLst>
              <a:gd name="adj" fmla="val 6557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s-ES">
              <a:solidFill>
                <a:schemeClr val="accent6"/>
              </a:solidFill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D6CA716B-BCC9-7ACC-2DDF-9360E639759D}"/>
              </a:ext>
            </a:extLst>
          </p:cNvPr>
          <p:cNvSpPr/>
          <p:nvPr/>
        </p:nvSpPr>
        <p:spPr>
          <a:xfrm>
            <a:off x="2345135" y="1104063"/>
            <a:ext cx="4388174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dirty="0">
                <a:solidFill>
                  <a:schemeClr val="bg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RELEVANTE</a:t>
            </a:r>
            <a:endParaRPr lang="en-US" sz="950" b="1" dirty="0">
              <a:solidFill>
                <a:schemeClr val="bg2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F8CD9CC-8A42-BA2F-D6F1-A9B954D79B0A}"/>
              </a:ext>
            </a:extLst>
          </p:cNvPr>
          <p:cNvCxnSpPr>
            <a:cxnSpLocks/>
          </p:cNvCxnSpPr>
          <p:nvPr/>
        </p:nvCxnSpPr>
        <p:spPr>
          <a:xfrm flipV="1">
            <a:off x="4224031" y="2100521"/>
            <a:ext cx="6959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C3B6722-0FD8-B358-C5BB-827BA10919B5}"/>
              </a:ext>
            </a:extLst>
          </p:cNvPr>
          <p:cNvCxnSpPr>
            <a:cxnSpLocks/>
          </p:cNvCxnSpPr>
          <p:nvPr/>
        </p:nvCxnSpPr>
        <p:spPr>
          <a:xfrm flipV="1">
            <a:off x="4224031" y="3102959"/>
            <a:ext cx="6959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72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1413"/>
            <a:ext cx="7833643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Estado del arte — Sistemas en SemEval-2018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39874" y="985350"/>
            <a:ext cx="8064252" cy="3441055"/>
          </a:xfrm>
          <a:prstGeom prst="roundRect">
            <a:avLst>
              <a:gd name="adj" fmla="val 75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84535" y="1070852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Equipo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56557" y="1070852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44953" y="1070852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F1-score (</a:t>
            </a:r>
            <a:r>
              <a:rPr lang="en-US" sz="1100" b="1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Relevante</a:t>
            </a: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4535" y="1436969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Villani (IBM Research)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56557" y="1436969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 + Atención + GloVe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44953" y="1436969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0,5714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4535" y="1803086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Flytxt_NTNU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6557" y="1803086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+ TF-IDF bigramas + clustering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44953" y="1803086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0,5517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4535" y="2169203"/>
            <a:ext cx="149252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SVM (organizadores)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6557" y="2169203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+ TF-IDF bigramas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953" y="2169203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0,5517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4535" y="2735197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NLP Foundation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56557" y="2735197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 + embeddings preentrenados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44953" y="2735197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0,5130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535" y="3101314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HCCL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56557" y="3101314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BiLSTM-CNN-CRF end-to-end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44953" y="3101314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0,4904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535" y="3467431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TeamDL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56557" y="3467431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CNN para clasificación de texto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44953" y="3467431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0,4871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0987" y="4648498"/>
            <a:ext cx="8064252" cy="412179"/>
          </a:xfrm>
          <a:prstGeom prst="roundRect">
            <a:avLst>
              <a:gd name="adj" fmla="val 4214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5" y="4765287"/>
            <a:ext cx="174724" cy="1397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89334" y="4729238"/>
            <a:ext cx="792747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Conclusión: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tarea es </a:t>
            </a:r>
            <a:r>
              <a:rPr lang="en-US" sz="1100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compleja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sz="1100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mejor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resultado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apenas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supera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F1-score de  0,57</a:t>
            </a:r>
            <a:endParaRPr lang="en-US" sz="11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B923A145-F957-36BC-0F80-7FA307563BAB}"/>
              </a:ext>
            </a:extLst>
          </p:cNvPr>
          <p:cNvSpPr/>
          <p:nvPr/>
        </p:nvSpPr>
        <p:spPr>
          <a:xfrm>
            <a:off x="684535" y="3830647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</a:rPr>
              <a:t>UMBC</a:t>
            </a:r>
            <a:endParaRPr lang="en-US" sz="11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23B2E2EE-06F2-9687-3C9B-C83C0AAF265C}"/>
              </a:ext>
            </a:extLst>
          </p:cNvPr>
          <p:cNvSpPr/>
          <p:nvPr/>
        </p:nvSpPr>
        <p:spPr>
          <a:xfrm>
            <a:off x="684535" y="4195261"/>
            <a:ext cx="1949723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Operatives</a:t>
            </a:r>
            <a:endParaRPr lang="en-US" sz="11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67CF8C2E-C813-EB80-503D-5FE260741719}"/>
              </a:ext>
            </a:extLst>
          </p:cNvPr>
          <p:cNvSpPr/>
          <p:nvPr/>
        </p:nvSpPr>
        <p:spPr>
          <a:xfrm>
            <a:off x="2456557" y="3833557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pt-BR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+ </a:t>
            </a:r>
            <a:r>
              <a:rPr lang="pt-BR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embeddings</a:t>
            </a:r>
            <a:r>
              <a:rPr lang="pt-BR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pt-BR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dominio</a:t>
            </a:r>
            <a:r>
              <a:rPr lang="pt-BR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</a:t>
            </a:r>
            <a:r>
              <a:rPr lang="pt-BR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APTnotes</a:t>
            </a:r>
            <a:r>
              <a:rPr lang="pt-BR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11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7EA1124D-B214-9D27-31EE-51E18F662E64}"/>
              </a:ext>
            </a:extLst>
          </p:cNvPr>
          <p:cNvSpPr/>
          <p:nvPr/>
        </p:nvSpPr>
        <p:spPr>
          <a:xfrm>
            <a:off x="2456557" y="4194937"/>
            <a:ext cx="436609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+ TF-IDF +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dependencias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sintácticas</a:t>
            </a:r>
            <a:endParaRPr lang="en-US" sz="11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37AD7B50-6FEC-43C5-57FC-65516B50A7A9}"/>
              </a:ext>
            </a:extLst>
          </p:cNvPr>
          <p:cNvSpPr/>
          <p:nvPr/>
        </p:nvSpPr>
        <p:spPr>
          <a:xfrm>
            <a:off x="6649715" y="3833557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0,4561</a:t>
            </a:r>
            <a:endParaRPr lang="en-US" sz="11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69BF1B18-E144-8E01-C0D6-582C54D19B85}"/>
              </a:ext>
            </a:extLst>
          </p:cNvPr>
          <p:cNvSpPr/>
          <p:nvPr/>
        </p:nvSpPr>
        <p:spPr>
          <a:xfrm>
            <a:off x="6644952" y="4188001"/>
            <a:ext cx="227186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0,4213</a:t>
            </a:r>
            <a:endParaRPr lang="en-US" sz="1100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D7132E7-5973-FFD1-EDB1-082C941A59D6}"/>
              </a:ext>
            </a:extLst>
          </p:cNvPr>
          <p:cNvCxnSpPr/>
          <p:nvPr/>
        </p:nvCxnSpPr>
        <p:spPr>
          <a:xfrm>
            <a:off x="539874" y="1733773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0C49907-201D-972A-D636-4EDA7CDD86B3}"/>
              </a:ext>
            </a:extLst>
          </p:cNvPr>
          <p:cNvCxnSpPr/>
          <p:nvPr/>
        </p:nvCxnSpPr>
        <p:spPr>
          <a:xfrm>
            <a:off x="539874" y="2100919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8C4C9192-DFBA-3723-EAA5-E27E0D459F79}"/>
              </a:ext>
            </a:extLst>
          </p:cNvPr>
          <p:cNvCxnSpPr/>
          <p:nvPr/>
        </p:nvCxnSpPr>
        <p:spPr>
          <a:xfrm>
            <a:off x="539874" y="2641245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D6DE332-CCA2-B019-8AFA-3E326FE78DF9}"/>
              </a:ext>
            </a:extLst>
          </p:cNvPr>
          <p:cNvCxnSpPr/>
          <p:nvPr/>
        </p:nvCxnSpPr>
        <p:spPr>
          <a:xfrm>
            <a:off x="520987" y="3015318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DEF0232-19CA-A6D1-FC76-1DC159E86064}"/>
              </a:ext>
            </a:extLst>
          </p:cNvPr>
          <p:cNvCxnSpPr/>
          <p:nvPr/>
        </p:nvCxnSpPr>
        <p:spPr>
          <a:xfrm>
            <a:off x="520987" y="3396319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BB6CDB6-33E0-75F2-F0DB-7AF1019870C0}"/>
              </a:ext>
            </a:extLst>
          </p:cNvPr>
          <p:cNvCxnSpPr/>
          <p:nvPr/>
        </p:nvCxnSpPr>
        <p:spPr>
          <a:xfrm>
            <a:off x="539874" y="3763464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EEC2E77-3EE2-D679-2DCB-563B711C09D0}"/>
              </a:ext>
            </a:extLst>
          </p:cNvPr>
          <p:cNvCxnSpPr/>
          <p:nvPr/>
        </p:nvCxnSpPr>
        <p:spPr>
          <a:xfrm>
            <a:off x="539874" y="4116755"/>
            <a:ext cx="8064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3320" y="390314"/>
            <a:ext cx="4237360" cy="342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— MalwareTextDB</a:t>
            </a:r>
            <a:endParaRPr lang="en-US" sz="215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E86AC1D-369A-011A-D562-D2F8CED97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4849" y="927199"/>
            <a:ext cx="4654302" cy="991865"/>
          </a:xfrm>
          <a:prstGeom prst="rect">
            <a:avLst/>
          </a:prstGeom>
        </p:spPr>
      </p:pic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A8FD86DF-B16F-BE3A-05A2-758854236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4849" y="2305623"/>
            <a:ext cx="4654302" cy="991865"/>
          </a:xfrm>
          <a:prstGeom prst="rect">
            <a:avLst/>
          </a:prstGeom>
        </p:spPr>
      </p:pic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0055C204-CBA9-F0F8-BA87-56F6CEAC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4849" y="3684047"/>
            <a:ext cx="4654302" cy="991865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CDFEC190-B796-9B13-E9F0-3AE621F39782}"/>
              </a:ext>
            </a:extLst>
          </p:cNvPr>
          <p:cNvSpPr/>
          <p:nvPr/>
        </p:nvSpPr>
        <p:spPr>
          <a:xfrm>
            <a:off x="2556915" y="1223256"/>
            <a:ext cx="426050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39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informes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APT (Advanced Persistent Threat) de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fuentes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públicas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inteligencia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amenazas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endParaRPr lang="en-US" sz="11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A06A70B-E78A-37FF-3B96-7D0BA46317C6}"/>
              </a:ext>
            </a:extLst>
          </p:cNvPr>
          <p:cNvSpPr/>
          <p:nvPr/>
        </p:nvSpPr>
        <p:spPr>
          <a:xfrm>
            <a:off x="2556915" y="2601679"/>
            <a:ext cx="426050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1000"/>
              </a:lnSpc>
              <a:buSzPct val="100000"/>
            </a:pP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Anotación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manual con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esquema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MAEC (Malware Attribute Enumeration and Characterization)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endParaRPr lang="en-US" sz="11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A7821A55-1409-DAD7-F127-2D401F142747}"/>
              </a:ext>
            </a:extLst>
          </p:cNvPr>
          <p:cNvSpPr/>
          <p:nvPr/>
        </p:nvSpPr>
        <p:spPr>
          <a:xfrm>
            <a:off x="2556914" y="3980103"/>
            <a:ext cx="426050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1000"/>
              </a:lnSpc>
              <a:buSzPct val="100000"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frase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es </a:t>
            </a: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RELEVANTE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contiene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menos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anotación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Acción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Entidad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</a:t>
            </a:r>
            <a:r>
              <a:rPr lang="en-US" sz="11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Modificador</a:t>
            </a:r>
            <a:endParaRPr lang="en-US" sz="1100" dirty="0"/>
          </a:p>
          <a:p>
            <a:pPr marL="0" indent="0" algn="l">
              <a:lnSpc>
                <a:spcPct val="119000"/>
              </a:lnSpc>
              <a:buNone/>
            </a:pPr>
            <a:endParaRPr lang="en-US" sz="110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1A976809-6E6B-AF18-90FD-DBF22EE8D22B}"/>
              </a:ext>
            </a:extLst>
          </p:cNvPr>
          <p:cNvSpPr/>
          <p:nvPr/>
        </p:nvSpPr>
        <p:spPr>
          <a:xfrm>
            <a:off x="0" y="4836009"/>
            <a:ext cx="9144000" cy="307491"/>
          </a:xfrm>
          <a:prstGeom prst="roundRect">
            <a:avLst>
              <a:gd name="adj" fmla="val 4214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465E1511-F875-6767-2287-B10C1BB022E2}"/>
              </a:ext>
            </a:extLst>
          </p:cNvPr>
          <p:cNvSpPr/>
          <p:nvPr/>
        </p:nvSpPr>
        <p:spPr>
          <a:xfrm>
            <a:off x="723425" y="4889816"/>
            <a:ext cx="792747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19000"/>
              </a:lnSpc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</a:t>
            </a:r>
            <a:r>
              <a:rPr lang="en-US" sz="1100" b="1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oficial</a:t>
            </a: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disponible </a:t>
            </a:r>
            <a:r>
              <a:rPr lang="en-US" sz="1100" b="1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públicamente</a:t>
            </a: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</a:t>
            </a: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https://github.com/anuraagkansara/SecureNLP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1619"/>
            <a:ext cx="8205936" cy="4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Distribución de clases — Desbalanceo severo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753198" y="1201415"/>
            <a:ext cx="2406253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Desglose por partición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53198" y="1542455"/>
            <a:ext cx="3855690" cy="135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9.435 frases — 23,4% relevante (2.204) · 76,6% no relevante (7.231) · ratio 3,3:1</a:t>
            </a:r>
            <a:endParaRPr lang="en-US" sz="11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1.213 frases — 6,5% relevante (79) · 93,5% no relevante (1.134) · ratio 14,3:1</a:t>
            </a:r>
            <a:endParaRPr lang="en-US" sz="11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Test: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618 frases — 14,6% relevante (90) · 85,4% no relevante (528) · ratio 5,9:1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3198" y="3020095"/>
            <a:ext cx="3855690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Las particiones se separaron por informe completo, no por frase: el desbalanceo varía drásticamente entre splits.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3198" y="3592860"/>
            <a:ext cx="3855690" cy="946547"/>
          </a:xfrm>
          <a:prstGeom prst="roundRect">
            <a:avLst>
              <a:gd name="adj" fmla="val 2292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785" y="3794596"/>
            <a:ext cx="180752" cy="1445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3123" y="3750915"/>
            <a:ext cx="324117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Consecuencia: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clasificador trivial que siempre prediga "no relevante" alcanza </a:t>
            </a: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85,4% de accuracy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sobre el test — sin aprender nada.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6C677EB-8679-43A6-173A-459198C4D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92" y="1433411"/>
            <a:ext cx="3839209" cy="22766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752" y="458465"/>
            <a:ext cx="4819204" cy="287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Las 5 familias de modelos evaluadas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6752" y="878904"/>
            <a:ext cx="6350422" cy="665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543" y="1116955"/>
            <a:ext cx="151805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882304" y="994395"/>
            <a:ext cx="115044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Clásico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82304" y="1177975"/>
            <a:ext cx="57493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+ TF-IDF con unigramas y bigramas — baseline reproducible + búsqueda exhaustiva de hiperparámetros (GridSearch, 64 combinaciones).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752" y="1611213"/>
            <a:ext cx="6350422" cy="607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7543" y="1820019"/>
            <a:ext cx="151805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882304" y="1726704"/>
            <a:ext cx="115044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Recurrente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882304" y="1910283"/>
            <a:ext cx="574937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 v1 (2 capas, GloVe 300d) y BiLSTM Villani (replicación del ganador: GloVe + trigramas de caracteres, atención de Luong, RMSprop).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752" y="2284958"/>
            <a:ext cx="6350422" cy="607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7543" y="2493764"/>
            <a:ext cx="151805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882304" y="2400449"/>
            <a:ext cx="1301576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Transformer genérico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882304" y="2584028"/>
            <a:ext cx="574937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BERT-base · RoBERTa-base · DeBERTa v3-base</a:t>
            </a:r>
            <a:endParaRPr lang="en-US" sz="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752" y="2958703"/>
            <a:ext cx="6350422" cy="607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7543" y="3167509"/>
            <a:ext cx="151805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882304" y="3074194"/>
            <a:ext cx="145405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Transformer de dominio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882304" y="3257773"/>
            <a:ext cx="574937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SecureBERT 2.0 (Cisco AI) · CTI-BERT (IBM Research) · SecBERT</a:t>
            </a:r>
            <a:endParaRPr lang="en-US" sz="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752" y="3632448"/>
            <a:ext cx="6350422" cy="6073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37543" y="3841254"/>
            <a:ext cx="151805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882304" y="3747939"/>
            <a:ext cx="115044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 entrenamiento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882304" y="3931518"/>
            <a:ext cx="574937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BART-MNLI (zero-shot por inferencia textual) · FLAN-T5-base (2-shot por instrucciones)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1396752" y="4314527"/>
            <a:ext cx="6350422" cy="295796"/>
          </a:xfrm>
          <a:prstGeom prst="roundRect">
            <a:avLst>
              <a:gd name="adj" fmla="val 513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955" y="4442966"/>
            <a:ext cx="126504" cy="10120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725662" y="4399583"/>
            <a:ext cx="637750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Adicional: back-translation EN→FR→EN como aumento de datos sobre BERT y SecureBERT.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384" y="457572"/>
            <a:ext cx="4782666" cy="34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Replicación del equipo Villani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928345" y="1051620"/>
            <a:ext cx="18541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28345" y="1324124"/>
            <a:ext cx="2503959" cy="82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Embeddings GloVe 6B 300d (congelados) concatenados con embeddings de trigramas de caracteres 200d → BiLSTM con 128 unidades por dirección → mecanismo de atención de Luong (producto escalar) → clasificación binaria.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28345" y="2250281"/>
            <a:ext cx="18541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Optimizador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28345" y="2522786"/>
            <a:ext cx="2503959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RMSprop con lr=1×10⁻⁴ · early stopping · max_len=100 tokens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28345" y="2952006"/>
            <a:ext cx="18541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28345" y="3224510"/>
            <a:ext cx="2503959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Comprobar si el ganador de 2018 puede ser reproducido y si aguanta la comparación frente a los Transformers modernos.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28345" y="3819376"/>
            <a:ext cx="250395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Diferencia respecto al paper original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28345" y="4266456"/>
            <a:ext cx="2503959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 sobremuestreo explícito, detalles de semilla y regularización no publicados.</a:t>
            </a:r>
            <a:endParaRPr lang="en-US" sz="950" dirty="0"/>
          </a:p>
        </p:txBody>
      </p:sp>
      <p:pic>
        <p:nvPicPr>
          <p:cNvPr id="1026" name="Picture 2" descr="How to Use GloVe Word Embeddings With PyTorch Networks?">
            <a:extLst>
              <a:ext uri="{FF2B5EF4-FFF2-40B4-BE49-F238E27FC236}">
                <a16:creationId xmlns:a16="http://schemas.microsoft.com/office/drawing/2014/main" id="{182C7954-385B-DE10-FF2E-A44290C0D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68" y="1226195"/>
            <a:ext cx="3856355" cy="287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7519" y="454298"/>
            <a:ext cx="5470103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Transformers: genéricos vs dominio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67519" y="1864965"/>
            <a:ext cx="1799332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Protocolo común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7519" y="2123182"/>
            <a:ext cx="3560341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lr=5×10⁻⁵ · 3 épocas · lote 8 · truncamiento 128 tokens · sin selección de checkpoint · entrenados sobre fusión Train+Dev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7519" y="2526283"/>
            <a:ext cx="1888778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BERT Config A vs Config 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7519" y="2784500"/>
            <a:ext cx="3560341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Mismos hiperparámetros, diferente volumen de datos — permite aislar el efecto del split Dev.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7519" y="3187601"/>
            <a:ext cx="1986781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Hipótesis del dominio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7519" y="3445818"/>
            <a:ext cx="3560341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Modelos preentrenados con textos de ciberseguridad deberían capturar mejor términos como "drops a DLL", "C2 server" o "registry key".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754" y="1027063"/>
            <a:ext cx="3560341" cy="35603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68874" y="451098"/>
            <a:ext cx="4813920" cy="362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Entorno de experimentación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3968874" y="972666"/>
            <a:ext cx="4635252" cy="850627"/>
          </a:xfrm>
          <a:prstGeom prst="roundRect">
            <a:avLst>
              <a:gd name="adj" fmla="val 225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4096569" y="1100361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Hardware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96569" y="1345257"/>
            <a:ext cx="4379863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Colab gratuito — GPU T4 o P100 según disponibilidad · 16 GB VRAM · cupo diario de GPU · desconexiones automáticas.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68874" y="1929036"/>
            <a:ext cx="4635252" cy="850627"/>
          </a:xfrm>
          <a:prstGeom prst="roundRect">
            <a:avLst>
              <a:gd name="adj" fmla="val 225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096569" y="2056730"/>
            <a:ext cx="18049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Restricciones de diseño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96569" y="2301627"/>
            <a:ext cx="4379863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Truncamiento a 128 tokens, lote de 8, una sola semilla aleatoria por experimento, sin búsqueda de hiperparámetros en Transformers.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68874" y="2885405"/>
            <a:ext cx="4635252" cy="850627"/>
          </a:xfrm>
          <a:prstGeom prst="roundRect">
            <a:avLst>
              <a:gd name="adj" fmla="val 225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096569" y="3013100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96569" y="3257996"/>
            <a:ext cx="4379863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· scikit-learn · TensorFlow/Keras (BiLSTM) · PyTorch + HuggingFace Transformers · Helsinki-NLP MarianMT (back-translation).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68874" y="3841775"/>
            <a:ext cx="4635252" cy="850627"/>
          </a:xfrm>
          <a:prstGeom prst="roundRect">
            <a:avLst>
              <a:gd name="adj" fmla="val 225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096569" y="3969469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Recursos públicos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96569" y="4214366"/>
            <a:ext cx="4379863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Código: github.com/100495717/TFG-HUGO-BECERRA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Dataset: huggingface.co/datasets/hugobecerra/DATASET3.0</a:t>
            </a:r>
            <a:endParaRPr lang="en-US" sz="1000" dirty="0"/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E0E158F2-38B7-B5EC-3A1F-C6BF99495E2E}"/>
              </a:ext>
            </a:extLst>
          </p:cNvPr>
          <p:cNvSpPr/>
          <p:nvPr/>
        </p:nvSpPr>
        <p:spPr>
          <a:xfrm>
            <a:off x="539874" y="1211665"/>
            <a:ext cx="2882595" cy="3099078"/>
          </a:xfrm>
          <a:prstGeom prst="roundRect">
            <a:avLst>
              <a:gd name="adj" fmla="val 225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61697277-FED5-45CB-1A70-57831843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79" y="1225479"/>
            <a:ext cx="1387584" cy="85675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2DB24430-AAB7-AA7C-4EF8-23AE12CAF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61" y="1986033"/>
            <a:ext cx="3284220" cy="856753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CB6552E9-A2F2-2FE1-9E09-0180EF4FD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966" y="2603185"/>
            <a:ext cx="1274410" cy="78588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8D0CE259-5E4C-A39D-755F-C50170C5A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55857" y="3363739"/>
            <a:ext cx="850627" cy="8506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3124" y="427360"/>
            <a:ext cx="4462835" cy="328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Resultados</a:t>
            </a:r>
            <a:r>
              <a:rPr lang="en-US" sz="2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de la </a:t>
            </a:r>
            <a:r>
              <a:rPr lang="en-US" sz="20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experimentación</a:t>
            </a:r>
            <a:r>
              <a:rPr lang="en-US" sz="2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— tabla completa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721055" y="929655"/>
            <a:ext cx="7257678" cy="3786485"/>
          </a:xfrm>
          <a:prstGeom prst="roundRect">
            <a:avLst>
              <a:gd name="adj" fmla="val 45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638345" y="991121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53900" y="991121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F1 Score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38345" y="1261244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 Villani (replicación) — MEJOR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53900" y="1261244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0,5541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38345" y="1531367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SecureBERT 2.0 — mejor Transformer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53900" y="1531367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0,5515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8345" y="1801490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 v1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53900" y="1801490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0,5462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38345" y="2071613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SecureBERT + 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3900" y="2071613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0,5430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38345" y="2341736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RoBERTa — mejor Transformer genérico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53900" y="2341736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0,5323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38345" y="2611859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+ GridSearch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53900" y="2611859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0,5271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8345" y="2881982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DeBERTa v3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53900" y="2881982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0,5193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38345" y="3152105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BERT Config 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53900" y="3152105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0,5164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38345" y="3422228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CTI-BERT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53900" y="3422228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0,5147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38345" y="3692351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BERT + BT / BERT Config 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53900" y="3692351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0,5145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38345" y="3962474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 baseline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53900" y="3962474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0,5039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38345" y="4232597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SecBERT — peor modelo supervisado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53900" y="4232597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0,4718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38345" y="4502721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BART-MNLI (zero-shot, 50 frases)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53900" y="4502721"/>
            <a:ext cx="264147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0,25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6438"/>
            <a:ext cx="7555185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¿Dónde quedaríamos en SemEval-2018?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240929"/>
            <a:ext cx="3849812" cy="27711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077" y="1222846"/>
            <a:ext cx="2774156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Posicionamiento histórico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59077" y="1579811"/>
            <a:ext cx="3849812" cy="180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BiLSTM Villani de este TFG (F1 0,5541) habría ocupado el </a:t>
            </a:r>
            <a:r>
              <a:rPr lang="en-US" sz="11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segundo puesto</a:t>
            </a: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SemEval-2018, a solo 1,7 puntos del ganador.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SecureBERT 2.0 (F1 0,5515) queda </a:t>
            </a:r>
            <a:r>
              <a:rPr lang="en-US" sz="11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prácticamente empatado</a:t>
            </a: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 Flytxt_NTNU y el baseline SVM de 2018.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Todos los modelos supervisados de este TFG, excepto SecBERT, quedan </a:t>
            </a:r>
            <a:r>
              <a:rPr lang="en-US" sz="11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encima del cuarto clasificado</a:t>
            </a: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2018.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077" y="3547170"/>
            <a:ext cx="3849812" cy="997000"/>
          </a:xfrm>
          <a:prstGeom prst="roundRect">
            <a:avLst>
              <a:gd name="adj" fmla="val 2248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500" y="3755603"/>
            <a:ext cx="186779" cy="1494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4703" y="3714824"/>
            <a:ext cx="3214762" cy="661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modelo de 2025 iguala el baseline de 2018 sin superarlo con creces — la tarea sigue siendo intrínsecamente difícil.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4563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7023"/>
            <a:ext cx="4291161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Hallazgos principales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9874" y="1197322"/>
            <a:ext cx="341635" cy="34163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30932" y="1249487"/>
            <a:ext cx="3260601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 tamaño no garantiza rendimiento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30932" y="1554807"/>
            <a:ext cx="3447604" cy="112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BiLSTM con 1,5M parámetros supera a BERT y RoBERTa con 110M parámetros — en corpus pequeño y desbalanceado, una arquitectura ajustada al problema puede ser más eficaz que un modelo de propósito general de mayor escala.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5390" y="1197322"/>
            <a:ext cx="341635" cy="34163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156448" y="1249487"/>
            <a:ext cx="3447678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Dominio no implica mejora automática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56448" y="1770459"/>
            <a:ext cx="3447678" cy="112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CTI-BERT y SecBERT no superan a BERT genérico bajo el mismo protocolo — solo SecureBERT 2.0 destaca, gracias a su arquitectura base más moderna (ModernBERT) y su corpus ampliado con código fuente.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874" y="3199358"/>
            <a:ext cx="341635" cy="34163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30932" y="3251522"/>
            <a:ext cx="3447604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Back-translation sin efecto apreciable en BERT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0932" y="3772495"/>
            <a:ext cx="3447604" cy="903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300 frases sintéticas EN→FR→EN no mueven el F1 (0,5164 → 0,5145) — el conocimiento del preentrenamiento puede pesar más que duplicar la clase minoritaria con ejemplos sintéticos.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5390" y="3199358"/>
            <a:ext cx="341635" cy="34163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156448" y="3251522"/>
            <a:ext cx="3042419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Prompting limitado por hardware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56448" y="3556843"/>
            <a:ext cx="3447678" cy="903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BART-MNLI clasifica casi todo como relevante con F1 0,25 — el resultado no invalida el enfoque, solo indica que los modelos accesibles en Colab gratuito son insuficientes para esta tarea.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34182"/>
            <a:ext cx="5937647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Tipos de error más frecuentes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824" y="1581001"/>
            <a:ext cx="2604269" cy="27282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334" y="1754312"/>
            <a:ext cx="218144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Falso positivo por vocabulario técnico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70334" y="2285107"/>
            <a:ext cx="2181448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report describes several known malware families, including ransomware and trojans." — el modelo aprende que "ransomware" y "trojans" son señales fuertes de relevancia, pero aquí aparecen en contexto descriptivo sin acción concreta.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303" y="1581001"/>
            <a:ext cx="2604269" cy="27282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09814" y="1754312"/>
            <a:ext cx="218144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Falso negativo por verbo genérico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509814" y="2285107"/>
            <a:ext cx="2181448" cy="161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"Once the victim opens the attachment, the attacker gains access to the system." — la acción es relevante según MAEC pero "gains access" no es un marcador léxico típico de comportamiento de malware.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83" y="1581001"/>
            <a:ext cx="2604269" cy="27282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9293" y="1754312"/>
            <a:ext cx="218144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Caso </a:t>
            </a:r>
            <a:r>
              <a:rPr lang="en-US" sz="135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ambiguo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9293" y="2285107"/>
            <a:ext cx="2181448" cy="138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attackers used spear-phishing emails to deliver the payload." — distintos modelos toman decisiones opuestas; la ambigüedad está en el criterio de anotación, no en 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98922" y="362869"/>
            <a:ext cx="3755827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Limitaciones del estudio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4923" y="887228"/>
            <a:ext cx="4649539" cy="6130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29618" y="1014774"/>
            <a:ext cx="1717551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Una sola semilla aleatoria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429618" y="1225514"/>
            <a:ext cx="4337298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Diferencias menores de 1-2 puntos de F1 deben interpretarse con cautela.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4923" y="1583521"/>
            <a:ext cx="4649539" cy="7603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29618" y="1711066"/>
            <a:ext cx="3426842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 búsqueda de hiperparámetros en Transformers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2429618" y="1921807"/>
            <a:ext cx="433729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Solo se exploró el SVM en profundidad (64 combinaciones); el ranking entre modelos próximos podría variar con más exploración.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4923" y="2427078"/>
            <a:ext cx="4649539" cy="7603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29618" y="2554624"/>
            <a:ext cx="2241575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Back-translation solo con francés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2429618" y="2765365"/>
            <a:ext cx="433729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uso de un único idioma intermedio limita el enriquecimiento del aumento; un enfoque multi-idioma podría aportar mayor diversidad.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4923" y="3270636"/>
            <a:ext cx="4649539" cy="7603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429618" y="3398182"/>
            <a:ext cx="2427015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Prompting evaluado sobre 50 frases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2429618" y="3608922"/>
            <a:ext cx="433729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resultados del bloque de prompting no son directamente comparables con el resto del estudio.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2259210" y="4124538"/>
            <a:ext cx="4635252" cy="500807"/>
          </a:xfrm>
          <a:prstGeom prst="roundRect">
            <a:avLst>
              <a:gd name="adj" fmla="val 3393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468" y="4266966"/>
            <a:ext cx="141610" cy="11325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627336" y="4227675"/>
            <a:ext cx="415386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Origen común:</a:t>
            </a: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Todas estas limitaciones tienen origen común en Google Colab gratuito — no son decisiones metodológicas, sino restricciones de infraestructura.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7498" y="348258"/>
            <a:ext cx="259370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4" name="Shape 1"/>
          <p:cNvSpPr/>
          <p:nvPr/>
        </p:nvSpPr>
        <p:spPr>
          <a:xfrm>
            <a:off x="848356" y="1057574"/>
            <a:ext cx="211485" cy="21148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890028" y="1083209"/>
            <a:ext cx="128141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7066" y="1089869"/>
            <a:ext cx="1646113" cy="26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BiLSTM Villani supera a los Transformers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7066" y="1414240"/>
            <a:ext cx="1646113" cy="567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 F1 0,5541, la BiLSTM replicada supera a todos los Transformers evaluados. En corpus pequeño y desbalanceado, la complejidad arquitectónica no garantiza mejor rendimiento.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48356" y="2095799"/>
            <a:ext cx="211485" cy="21148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90028" y="2121434"/>
            <a:ext cx="128141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7066" y="2128094"/>
            <a:ext cx="1646113" cy="26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 preentrenamiento de dominio no garantiza mejora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7066" y="2452465"/>
            <a:ext cx="1646113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 </a:t>
            </a:r>
            <a:r>
              <a:rPr lang="en-US" sz="7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</a:t>
            </a: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distingue a SecureBERT 2.0 no es el dominio, sino su arquitectura más moderna y su corpus más diverso.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8356" y="2907210"/>
            <a:ext cx="211485" cy="21148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90028" y="2932845"/>
            <a:ext cx="128141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7066" y="2939505"/>
            <a:ext cx="1646113" cy="26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back-translation no produjo mejora apreciable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17066" y="3263876"/>
            <a:ext cx="1646113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 300 ejemplos sintéticos sobre BERT, la estrategia necesita escala o diversidad lingüística mayor para impactar.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48356" y="3718621"/>
            <a:ext cx="211485" cy="21148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90028" y="3744256"/>
            <a:ext cx="128141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17066" y="3750916"/>
            <a:ext cx="1646113" cy="26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Techo de rendimiento compartido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7066" y="4075287"/>
            <a:ext cx="164611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valores de F1 se concentran entre 0,47 y 0,55 para todos los modelos, incluidos los de 2018. La dificultad intrínseca de la tarea impone un techo que el paso del tiempo y los modelos más grandes no han resuelto.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9874" y="472678"/>
            <a:ext cx="3415457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Trabajo futuro</a:t>
            </a:r>
            <a:endParaRPr lang="en-US" sz="2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007046"/>
            <a:ext cx="650825" cy="1050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0460" y="1137196"/>
            <a:ext cx="341664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Evaluar LLMs grandes mediante API externa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1300460" y="1387971"/>
            <a:ext cx="3874666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Usar Groq, OpenAI o Mistral para un experimento de prompting justo. Los resultados actuales están limitados por el hardware, no por el enfoque.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74" y="2057921"/>
            <a:ext cx="650825" cy="8709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0460" y="2188071"/>
            <a:ext cx="2223120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Back-translation multilingüe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1300460" y="2438846"/>
            <a:ext cx="38746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Usar varios idiomas intermedios (francés, alemán, español) y comparar de forma controlada el efecto aislado del aumento.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74" y="2928863"/>
            <a:ext cx="650825" cy="8709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00460" y="3059013"/>
            <a:ext cx="3375124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Abordar SubTareas 2, 3 y 4 de SemEval-2018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1300460" y="3309789"/>
            <a:ext cx="38746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Etiquetado de tokens (Acciones, Entidades, Modificadores), predicción de relaciones y clasificación según taxonomía MAEC con 454 tipos.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874" y="3799805"/>
            <a:ext cx="650825" cy="8709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00460" y="3929955"/>
            <a:ext cx="345154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Repetir experimentos con múltiples semillas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1300460" y="4180731"/>
            <a:ext cx="38746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Reportar media y desviación típica en los experimentos de Transformers para conclusiones estadísticamente más sólidas.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0132" y="239054"/>
            <a:ext cx="39632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¡Gracias!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284208" y="1383879"/>
            <a:ext cx="4066133" cy="2767831"/>
          </a:xfrm>
          <a:prstGeom prst="roundRect">
            <a:avLst>
              <a:gd name="adj" fmla="val 836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438468" y="1538139"/>
            <a:ext cx="273717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Hugo Becerra Fernández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38468" y="1911549"/>
            <a:ext cx="3757613" cy="60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Tutora: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Isabel Segura Bedmar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Universidad Carlos III de Madrid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38468" y="2725118"/>
            <a:ext cx="3757613" cy="11534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38468" y="2948732"/>
            <a:ext cx="3757613" cy="1064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Código:</a:t>
            </a:r>
            <a:endParaRPr lang="en-US" sz="1200" dirty="0"/>
          </a:p>
          <a:p>
            <a:pPr marL="0" indent="0" algn="l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2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github.com/100495717/TFG-HUGO-BECERRA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Dataset: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huggingface.co/datasets/hugobecerra/DATASET3.0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1919</Words>
  <Application>Microsoft Office PowerPoint</Application>
  <PresentationFormat>Presentación en pantalla (16:9)</PresentationFormat>
  <Paragraphs>253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 Bold</vt:lpstr>
      <vt:lpstr>Montserrat Light</vt:lpstr>
      <vt:lpstr>Arial</vt:lpstr>
      <vt:lpstr>Source Sans 3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Hugo</dc:creator>
  <cp:lastModifiedBy>Hugo Becerra</cp:lastModifiedBy>
  <cp:revision>3</cp:revision>
  <dcterms:created xsi:type="dcterms:W3CDTF">2026-06-12T16:07:46Z</dcterms:created>
  <dcterms:modified xsi:type="dcterms:W3CDTF">2026-06-13T09:53:17Z</dcterms:modified>
</cp:coreProperties>
</file>